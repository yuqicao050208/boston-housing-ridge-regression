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4608513" cy="34559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50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4267" y="-4267"/>
            <a:ext cx="4621518" cy="3464522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9812" y="1211729"/>
            <a:ext cx="2936626" cy="829630"/>
          </a:xfrm>
        </p:spPr>
        <p:txBody>
          <a:bodyPr anchor="b">
            <a:noAutofit/>
          </a:bodyPr>
          <a:lstStyle>
            <a:lvl1pPr algn="r">
              <a:defRPr sz="2721">
                <a:solidFill>
                  <a:schemeClr val="accent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9812" y="2041358"/>
            <a:ext cx="2936626" cy="552766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3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60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91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2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5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82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126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430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771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929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33" y="1361063"/>
            <a:ext cx="3199205" cy="920479"/>
          </a:xfrm>
        </p:spPr>
        <p:txBody>
          <a:bodyPr anchor="b"/>
          <a:lstStyle>
            <a:lvl1pPr algn="l">
              <a:defRPr sz="2016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233" y="2281541"/>
            <a:ext cx="3199205" cy="433586"/>
          </a:xfrm>
        </p:spPr>
        <p:txBody>
          <a:bodyPr anchor="t"/>
          <a:lstStyle>
            <a:lvl1pPr marL="0" indent="0" algn="l">
              <a:buNone/>
              <a:defRPr sz="1008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383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2pPr>
            <a:lvl3pPr marL="460766" indent="0">
              <a:buNone/>
              <a:defRPr sz="806">
                <a:solidFill>
                  <a:schemeClr val="tx1">
                    <a:tint val="75000"/>
                  </a:schemeClr>
                </a:solidFill>
              </a:defRPr>
            </a:lvl3pPr>
            <a:lvl4pPr marL="691149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4pPr>
            <a:lvl5pPr marL="921532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5pPr>
            <a:lvl6pPr marL="1151915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6pPr>
            <a:lvl7pPr marL="1382298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7pPr>
            <a:lvl8pPr marL="1612682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8pPr>
            <a:lvl9pPr marL="1843065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714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34" y="307199"/>
            <a:ext cx="3199204" cy="665598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7234" y="1088797"/>
            <a:ext cx="1556386" cy="1955658"/>
          </a:xfrm>
        </p:spPr>
        <p:txBody>
          <a:bodyPr>
            <a:normAutofit/>
          </a:bodyPr>
          <a:lstStyle>
            <a:lvl1pPr>
              <a:defRPr sz="907"/>
            </a:lvl1pPr>
            <a:lvl2pPr>
              <a:defRPr sz="806"/>
            </a:lvl2pPr>
            <a:lvl3pPr>
              <a:defRPr sz="7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50052" y="1088798"/>
            <a:ext cx="1556386" cy="1955658"/>
          </a:xfrm>
        </p:spPr>
        <p:txBody>
          <a:bodyPr>
            <a:normAutofit/>
          </a:bodyPr>
          <a:lstStyle>
            <a:lvl1pPr>
              <a:defRPr sz="907"/>
            </a:lvl1pPr>
            <a:lvl2pPr>
              <a:defRPr sz="806"/>
            </a:lvl2pPr>
            <a:lvl3pPr>
              <a:defRPr sz="705"/>
            </a:lvl3pPr>
            <a:lvl4pPr>
              <a:defRPr sz="605"/>
            </a:lvl4pPr>
            <a:lvl5pPr>
              <a:defRPr sz="605"/>
            </a:lvl5pPr>
            <a:lvl6pPr>
              <a:defRPr sz="605"/>
            </a:lvl6pPr>
            <a:lvl7pPr>
              <a:defRPr sz="605"/>
            </a:lvl7pPr>
            <a:lvl8pPr>
              <a:defRPr sz="605"/>
            </a:lvl8pPr>
            <a:lvl9pPr>
              <a:defRPr sz="605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97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34" y="307199"/>
            <a:ext cx="3199204" cy="665598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234" y="1088995"/>
            <a:ext cx="1557677" cy="290399"/>
          </a:xfrm>
        </p:spPr>
        <p:txBody>
          <a:bodyPr anchor="b">
            <a:noAutofit/>
          </a:bodyPr>
          <a:lstStyle>
            <a:lvl1pPr marL="0" indent="0">
              <a:buNone/>
              <a:defRPr sz="1209" b="0"/>
            </a:lvl1pPr>
            <a:lvl2pPr marL="230383" indent="0">
              <a:buNone/>
              <a:defRPr sz="1008" b="1"/>
            </a:lvl2pPr>
            <a:lvl3pPr marL="460766" indent="0">
              <a:buNone/>
              <a:defRPr sz="907" b="1"/>
            </a:lvl3pPr>
            <a:lvl4pPr marL="691149" indent="0">
              <a:buNone/>
              <a:defRPr sz="806" b="1"/>
            </a:lvl4pPr>
            <a:lvl5pPr marL="921532" indent="0">
              <a:buNone/>
              <a:defRPr sz="806" b="1"/>
            </a:lvl5pPr>
            <a:lvl6pPr marL="1151915" indent="0">
              <a:buNone/>
              <a:defRPr sz="806" b="1"/>
            </a:lvl6pPr>
            <a:lvl7pPr marL="1382298" indent="0">
              <a:buNone/>
              <a:defRPr sz="806" b="1"/>
            </a:lvl7pPr>
            <a:lvl8pPr marL="1612682" indent="0">
              <a:buNone/>
              <a:defRPr sz="806" b="1"/>
            </a:lvl8pPr>
            <a:lvl9pPr marL="1843065" indent="0">
              <a:buNone/>
              <a:defRPr sz="806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234" y="1379395"/>
            <a:ext cx="1557677" cy="1665061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48760" y="1088995"/>
            <a:ext cx="1557677" cy="290399"/>
          </a:xfrm>
        </p:spPr>
        <p:txBody>
          <a:bodyPr anchor="b">
            <a:noAutofit/>
          </a:bodyPr>
          <a:lstStyle>
            <a:lvl1pPr marL="0" indent="0">
              <a:buNone/>
              <a:defRPr sz="1209" b="0"/>
            </a:lvl1pPr>
            <a:lvl2pPr marL="230383" indent="0">
              <a:buNone/>
              <a:defRPr sz="1008" b="1"/>
            </a:lvl2pPr>
            <a:lvl3pPr marL="460766" indent="0">
              <a:buNone/>
              <a:defRPr sz="907" b="1"/>
            </a:lvl3pPr>
            <a:lvl4pPr marL="691149" indent="0">
              <a:buNone/>
              <a:defRPr sz="806" b="1"/>
            </a:lvl4pPr>
            <a:lvl5pPr marL="921532" indent="0">
              <a:buNone/>
              <a:defRPr sz="806" b="1"/>
            </a:lvl5pPr>
            <a:lvl6pPr marL="1151915" indent="0">
              <a:buNone/>
              <a:defRPr sz="806" b="1"/>
            </a:lvl6pPr>
            <a:lvl7pPr marL="1382298" indent="0">
              <a:buNone/>
              <a:defRPr sz="806" b="1"/>
            </a:lvl7pPr>
            <a:lvl8pPr marL="1612682" indent="0">
              <a:buNone/>
              <a:defRPr sz="806" b="1"/>
            </a:lvl8pPr>
            <a:lvl9pPr marL="1843065" indent="0">
              <a:buNone/>
              <a:defRPr sz="806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48760" y="1379395"/>
            <a:ext cx="1557677" cy="1665061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42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34" y="307199"/>
            <a:ext cx="3199204" cy="665598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088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295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33" y="755199"/>
            <a:ext cx="1406233" cy="644264"/>
          </a:xfrm>
        </p:spPr>
        <p:txBody>
          <a:bodyPr anchor="b">
            <a:normAutofit/>
          </a:bodyPr>
          <a:lstStyle>
            <a:lvl1pPr>
              <a:defRPr sz="1008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9898" y="259489"/>
            <a:ext cx="1706539" cy="2784966"/>
          </a:xfrm>
        </p:spPr>
        <p:txBody>
          <a:bodyPr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7233" y="1399463"/>
            <a:ext cx="1406233" cy="1302395"/>
          </a:xfrm>
        </p:spPr>
        <p:txBody>
          <a:bodyPr>
            <a:normAutofit/>
          </a:bodyPr>
          <a:lstStyle>
            <a:lvl1pPr marL="0" indent="0">
              <a:buNone/>
              <a:defRPr sz="705"/>
            </a:lvl1pPr>
            <a:lvl2pPr marL="172787" indent="0">
              <a:buNone/>
              <a:defRPr sz="529"/>
            </a:lvl2pPr>
            <a:lvl3pPr marL="345575" indent="0">
              <a:buNone/>
              <a:defRPr sz="454"/>
            </a:lvl3pPr>
            <a:lvl4pPr marL="518362" indent="0">
              <a:buNone/>
              <a:defRPr sz="378"/>
            </a:lvl4pPr>
            <a:lvl5pPr marL="691149" indent="0">
              <a:buNone/>
              <a:defRPr sz="378"/>
            </a:lvl5pPr>
            <a:lvl6pPr marL="863937" indent="0">
              <a:buNone/>
              <a:defRPr sz="378"/>
            </a:lvl6pPr>
            <a:lvl7pPr marL="1036724" indent="0">
              <a:buNone/>
              <a:defRPr sz="378"/>
            </a:lvl7pPr>
            <a:lvl8pPr marL="1209511" indent="0">
              <a:buNone/>
              <a:defRPr sz="378"/>
            </a:lvl8pPr>
            <a:lvl9pPr marL="1382298" indent="0">
              <a:buNone/>
              <a:defRPr sz="378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080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34" y="2419192"/>
            <a:ext cx="3199204" cy="285599"/>
          </a:xfrm>
        </p:spPr>
        <p:txBody>
          <a:bodyPr anchor="b">
            <a:normAutofit/>
          </a:bodyPr>
          <a:lstStyle>
            <a:lvl1pPr algn="l">
              <a:defRPr sz="1209" b="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7234" y="307199"/>
            <a:ext cx="3199204" cy="1937993"/>
          </a:xfrm>
        </p:spPr>
        <p:txBody>
          <a:bodyPr anchor="t">
            <a:normAutofit/>
          </a:bodyPr>
          <a:lstStyle>
            <a:lvl1pPr marL="0" indent="0" algn="ctr">
              <a:buNone/>
              <a:defRPr sz="806"/>
            </a:lvl1pPr>
            <a:lvl2pPr marL="230383" indent="0">
              <a:buNone/>
              <a:defRPr sz="806"/>
            </a:lvl2pPr>
            <a:lvl3pPr marL="460766" indent="0">
              <a:buNone/>
              <a:defRPr sz="806"/>
            </a:lvl3pPr>
            <a:lvl4pPr marL="691149" indent="0">
              <a:buNone/>
              <a:defRPr sz="806"/>
            </a:lvl4pPr>
            <a:lvl5pPr marL="921532" indent="0">
              <a:buNone/>
              <a:defRPr sz="806"/>
            </a:lvl5pPr>
            <a:lvl6pPr marL="1151915" indent="0">
              <a:buNone/>
              <a:defRPr sz="806"/>
            </a:lvl6pPr>
            <a:lvl7pPr marL="1382298" indent="0">
              <a:buNone/>
              <a:defRPr sz="806"/>
            </a:lvl7pPr>
            <a:lvl8pPr marL="1612682" indent="0">
              <a:buNone/>
              <a:defRPr sz="806"/>
            </a:lvl8pPr>
            <a:lvl9pPr marL="1843065" indent="0">
              <a:buNone/>
              <a:defRPr sz="806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7234" y="2704791"/>
            <a:ext cx="3199204" cy="339664"/>
          </a:xfrm>
        </p:spPr>
        <p:txBody>
          <a:bodyPr>
            <a:normAutofit/>
          </a:bodyPr>
          <a:lstStyle>
            <a:lvl1pPr marL="0" indent="0">
              <a:buNone/>
              <a:defRPr sz="605"/>
            </a:lvl1pPr>
            <a:lvl2pPr marL="230383" indent="0">
              <a:buNone/>
              <a:defRPr sz="605"/>
            </a:lvl2pPr>
            <a:lvl3pPr marL="460766" indent="0">
              <a:buNone/>
              <a:defRPr sz="504"/>
            </a:lvl3pPr>
            <a:lvl4pPr marL="691149" indent="0">
              <a:buNone/>
              <a:defRPr sz="454"/>
            </a:lvl4pPr>
            <a:lvl5pPr marL="921532" indent="0">
              <a:buNone/>
              <a:defRPr sz="454"/>
            </a:lvl5pPr>
            <a:lvl6pPr marL="1151915" indent="0">
              <a:buNone/>
              <a:defRPr sz="454"/>
            </a:lvl6pPr>
            <a:lvl7pPr marL="1382298" indent="0">
              <a:buNone/>
              <a:defRPr sz="454"/>
            </a:lvl7pPr>
            <a:lvl8pPr marL="1612682" indent="0">
              <a:buNone/>
              <a:defRPr sz="454"/>
            </a:lvl8pPr>
            <a:lvl9pPr marL="1843065" indent="0">
              <a:buNone/>
              <a:defRPr sz="454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9440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34" y="307199"/>
            <a:ext cx="3199204" cy="1715194"/>
          </a:xfrm>
        </p:spPr>
        <p:txBody>
          <a:bodyPr anchor="ctr">
            <a:normAutofit/>
          </a:bodyPr>
          <a:lstStyle>
            <a:lvl1pPr algn="l">
              <a:defRPr sz="2217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234" y="2252792"/>
            <a:ext cx="3199204" cy="791663"/>
          </a:xfrm>
        </p:spPr>
        <p:txBody>
          <a:bodyPr anchor="ctr">
            <a:normAutofit/>
          </a:bodyPr>
          <a:lstStyle>
            <a:lvl1pPr marL="0" indent="0" algn="l">
              <a:buNone/>
              <a:defRPr sz="90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383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2pPr>
            <a:lvl3pPr marL="460766" indent="0">
              <a:buNone/>
              <a:defRPr sz="806">
                <a:solidFill>
                  <a:schemeClr val="tx1">
                    <a:tint val="75000"/>
                  </a:schemeClr>
                </a:solidFill>
              </a:defRPr>
            </a:lvl3pPr>
            <a:lvl4pPr marL="691149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4pPr>
            <a:lvl5pPr marL="921532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5pPr>
            <a:lvl6pPr marL="1151915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6pPr>
            <a:lvl7pPr marL="1382298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7pPr>
            <a:lvl8pPr marL="1612682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8pPr>
            <a:lvl9pPr marL="1843065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18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37" y="307199"/>
            <a:ext cx="3060338" cy="1523195"/>
          </a:xfrm>
        </p:spPr>
        <p:txBody>
          <a:bodyPr anchor="ctr">
            <a:normAutofit/>
          </a:bodyPr>
          <a:lstStyle>
            <a:lvl1pPr algn="l">
              <a:defRPr sz="2217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54934" y="1830394"/>
            <a:ext cx="2731544" cy="191999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80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383" indent="0">
              <a:buFontTx/>
              <a:buNone/>
              <a:defRPr/>
            </a:lvl2pPr>
            <a:lvl3pPr marL="460766" indent="0">
              <a:buFontTx/>
              <a:buNone/>
              <a:defRPr/>
            </a:lvl3pPr>
            <a:lvl4pPr marL="691149" indent="0">
              <a:buFontTx/>
              <a:buNone/>
              <a:defRPr/>
            </a:lvl4pPr>
            <a:lvl5pPr marL="921532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233" y="2252792"/>
            <a:ext cx="3199205" cy="791663"/>
          </a:xfrm>
        </p:spPr>
        <p:txBody>
          <a:bodyPr anchor="ctr">
            <a:normAutofit/>
          </a:bodyPr>
          <a:lstStyle>
            <a:lvl1pPr marL="0" indent="0" algn="l">
              <a:buNone/>
              <a:defRPr sz="90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383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2pPr>
            <a:lvl3pPr marL="460766" indent="0">
              <a:buNone/>
              <a:defRPr sz="806">
                <a:solidFill>
                  <a:schemeClr val="tx1">
                    <a:tint val="75000"/>
                  </a:schemeClr>
                </a:solidFill>
              </a:defRPr>
            </a:lvl3pPr>
            <a:lvl4pPr marL="691149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4pPr>
            <a:lvl5pPr marL="921532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5pPr>
            <a:lvl6pPr marL="1151915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6pPr>
            <a:lvl7pPr marL="1382298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7pPr>
            <a:lvl8pPr marL="1612682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8pPr>
            <a:lvl9pPr marL="1843065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43283" y="398299"/>
            <a:ext cx="230486" cy="294689"/>
          </a:xfrm>
          <a:prstGeom prst="rect">
            <a:avLst/>
          </a:prstGeom>
        </p:spPr>
        <p:txBody>
          <a:bodyPr vert="horz" lIns="46080" tIns="23040" rIns="46080" bIns="23040" rtlCol="0" anchor="ctr">
            <a:noAutofit/>
          </a:bodyPr>
          <a:lstStyle/>
          <a:p>
            <a:pPr lvl="0"/>
            <a:r>
              <a:rPr lang="en-US" sz="4031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0794" y="1454637"/>
            <a:ext cx="230486" cy="294689"/>
          </a:xfrm>
          <a:prstGeom prst="rect">
            <a:avLst/>
          </a:prstGeom>
        </p:spPr>
        <p:txBody>
          <a:bodyPr vert="horz" lIns="46080" tIns="23040" rIns="46080" bIns="23040" rtlCol="0" anchor="ctr">
            <a:noAutofit/>
          </a:bodyPr>
          <a:lstStyle/>
          <a:p>
            <a:pPr lvl="0"/>
            <a:r>
              <a:rPr lang="en-US" sz="4031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44706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233" y="973597"/>
            <a:ext cx="3199205" cy="1307944"/>
          </a:xfrm>
        </p:spPr>
        <p:txBody>
          <a:bodyPr anchor="b">
            <a:normAutofit/>
          </a:bodyPr>
          <a:lstStyle>
            <a:lvl1pPr algn="l">
              <a:defRPr sz="2217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233" y="2281540"/>
            <a:ext cx="3199205" cy="762915"/>
          </a:xfrm>
        </p:spPr>
        <p:txBody>
          <a:bodyPr anchor="t">
            <a:normAutofit/>
          </a:bodyPr>
          <a:lstStyle>
            <a:lvl1pPr marL="0" indent="0" algn="l">
              <a:buNone/>
              <a:defRPr sz="90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383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2pPr>
            <a:lvl3pPr marL="460766" indent="0">
              <a:buNone/>
              <a:defRPr sz="806">
                <a:solidFill>
                  <a:schemeClr val="tx1">
                    <a:tint val="75000"/>
                  </a:schemeClr>
                </a:solidFill>
              </a:defRPr>
            </a:lvl3pPr>
            <a:lvl4pPr marL="691149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4pPr>
            <a:lvl5pPr marL="921532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5pPr>
            <a:lvl6pPr marL="1151915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6pPr>
            <a:lvl7pPr marL="1382298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7pPr>
            <a:lvl8pPr marL="1612682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8pPr>
            <a:lvl9pPr marL="1843065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513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537" y="307199"/>
            <a:ext cx="3060338" cy="1523195"/>
          </a:xfrm>
        </p:spPr>
        <p:txBody>
          <a:bodyPr anchor="ctr">
            <a:normAutofit/>
          </a:bodyPr>
          <a:lstStyle>
            <a:lvl1pPr algn="l">
              <a:defRPr sz="2217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07233" y="2022393"/>
            <a:ext cx="3199205" cy="2591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20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383" indent="0">
              <a:buFontTx/>
              <a:buNone/>
              <a:defRPr/>
            </a:lvl2pPr>
            <a:lvl3pPr marL="460766" indent="0">
              <a:buFontTx/>
              <a:buNone/>
              <a:defRPr/>
            </a:lvl3pPr>
            <a:lvl4pPr marL="691149" indent="0">
              <a:buFontTx/>
              <a:buNone/>
              <a:defRPr/>
            </a:lvl4pPr>
            <a:lvl5pPr marL="921532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233" y="2281540"/>
            <a:ext cx="3199205" cy="762915"/>
          </a:xfrm>
        </p:spPr>
        <p:txBody>
          <a:bodyPr anchor="t">
            <a:normAutofit/>
          </a:bodyPr>
          <a:lstStyle>
            <a:lvl1pPr marL="0" indent="0" algn="l">
              <a:buNone/>
              <a:defRPr sz="90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383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2pPr>
            <a:lvl3pPr marL="460766" indent="0">
              <a:buNone/>
              <a:defRPr sz="806">
                <a:solidFill>
                  <a:schemeClr val="tx1">
                    <a:tint val="75000"/>
                  </a:schemeClr>
                </a:solidFill>
              </a:defRPr>
            </a:lvl3pPr>
            <a:lvl4pPr marL="691149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4pPr>
            <a:lvl5pPr marL="921532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5pPr>
            <a:lvl6pPr marL="1151915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6pPr>
            <a:lvl7pPr marL="1382298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7pPr>
            <a:lvl8pPr marL="1612682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8pPr>
            <a:lvl9pPr marL="1843065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243283" y="398299"/>
            <a:ext cx="230486" cy="294689"/>
          </a:xfrm>
          <a:prstGeom prst="rect">
            <a:avLst/>
          </a:prstGeom>
        </p:spPr>
        <p:txBody>
          <a:bodyPr vert="horz" lIns="46080" tIns="23040" rIns="46080" bIns="23040" rtlCol="0" anchor="ctr">
            <a:noAutofit/>
          </a:bodyPr>
          <a:lstStyle/>
          <a:p>
            <a:pPr lvl="0"/>
            <a:r>
              <a:rPr lang="en-US" sz="4031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0794" y="1454637"/>
            <a:ext cx="230486" cy="294689"/>
          </a:xfrm>
          <a:prstGeom prst="rect">
            <a:avLst/>
          </a:prstGeom>
        </p:spPr>
        <p:txBody>
          <a:bodyPr vert="horz" lIns="46080" tIns="23040" rIns="46080" bIns="23040" rtlCol="0" anchor="ctr">
            <a:noAutofit/>
          </a:bodyPr>
          <a:lstStyle/>
          <a:p>
            <a:pPr lvl="0"/>
            <a:r>
              <a:rPr lang="en-US" sz="4031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2761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383" y="307199"/>
            <a:ext cx="3196055" cy="1523195"/>
          </a:xfrm>
        </p:spPr>
        <p:txBody>
          <a:bodyPr anchor="ctr">
            <a:normAutofit/>
          </a:bodyPr>
          <a:lstStyle>
            <a:lvl1pPr algn="l">
              <a:defRPr sz="2217" b="0" cap="none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07233" y="2022393"/>
            <a:ext cx="3199205" cy="2591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209">
                <a:solidFill>
                  <a:schemeClr val="accent1"/>
                </a:solidFill>
              </a:defRPr>
            </a:lvl1pPr>
            <a:lvl2pPr marL="230383" indent="0">
              <a:buFontTx/>
              <a:buNone/>
              <a:defRPr/>
            </a:lvl2pPr>
            <a:lvl3pPr marL="460766" indent="0">
              <a:buFontTx/>
              <a:buNone/>
              <a:defRPr/>
            </a:lvl3pPr>
            <a:lvl4pPr marL="691149" indent="0">
              <a:buFontTx/>
              <a:buNone/>
              <a:defRPr/>
            </a:lvl4pPr>
            <a:lvl5pPr marL="921532" indent="0">
              <a:buFontTx/>
              <a:buNone/>
              <a:defRPr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233" y="2281540"/>
            <a:ext cx="3199205" cy="762915"/>
          </a:xfrm>
        </p:spPr>
        <p:txBody>
          <a:bodyPr anchor="t">
            <a:normAutofit/>
          </a:bodyPr>
          <a:lstStyle>
            <a:lvl1pPr marL="0" indent="0" algn="l">
              <a:buNone/>
              <a:defRPr sz="907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30383" indent="0">
              <a:buNone/>
              <a:defRPr sz="907">
                <a:solidFill>
                  <a:schemeClr val="tx1">
                    <a:tint val="75000"/>
                  </a:schemeClr>
                </a:solidFill>
              </a:defRPr>
            </a:lvl2pPr>
            <a:lvl3pPr marL="460766" indent="0">
              <a:buNone/>
              <a:defRPr sz="806">
                <a:solidFill>
                  <a:schemeClr val="tx1">
                    <a:tint val="75000"/>
                  </a:schemeClr>
                </a:solidFill>
              </a:defRPr>
            </a:lvl3pPr>
            <a:lvl4pPr marL="691149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4pPr>
            <a:lvl5pPr marL="921532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5pPr>
            <a:lvl6pPr marL="1151915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6pPr>
            <a:lvl7pPr marL="1382298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7pPr>
            <a:lvl8pPr marL="1612682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8pPr>
            <a:lvl9pPr marL="1843065" indent="0">
              <a:buNone/>
              <a:defRPr sz="7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08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F080-5E8C-48AD-84E5-6C08B304C14E}" type="datetimeFigureOut">
              <a:rPr lang="en-US" dirty="0"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33891-D5E7-4C7B-BF1D-E855E53CB5A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3980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12524" y="307199"/>
            <a:ext cx="493315" cy="2646391"/>
          </a:xfrm>
        </p:spPr>
        <p:txBody>
          <a:bodyPr vert="eaVert" anchor="ctr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7234" y="307199"/>
            <a:ext cx="2618257" cy="2646391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5812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61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4267" y="-4267"/>
            <a:ext cx="4621519" cy="3464522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7234" y="307199"/>
            <a:ext cx="3199204" cy="66559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7234" y="1088798"/>
            <a:ext cx="3199204" cy="1955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24213" y="3044456"/>
            <a:ext cx="344798" cy="18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7234" y="3044456"/>
            <a:ext cx="2329947" cy="18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48072" y="3044456"/>
            <a:ext cx="258366" cy="183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983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txStyles>
    <p:titleStyle>
      <a:lvl1pPr algn="l" defTabSz="230383" rtl="0" eaLnBrk="1" latinLnBrk="0" hangingPunct="1">
        <a:spcBef>
          <a:spcPct val="0"/>
        </a:spcBef>
        <a:buNone/>
        <a:defRPr sz="1814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2787" indent="-172787" algn="l" defTabSz="230383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74373" indent="-143989" algn="l" defTabSz="230383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80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5958" indent="-115192" algn="l" defTabSz="230383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7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6341" indent="-115192" algn="l" defTabSz="230383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36724" indent="-115192" algn="l" defTabSz="230383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67107" indent="-115192" algn="l" defTabSz="230383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97490" indent="-115192" algn="l" defTabSz="230383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727873" indent="-115192" algn="l" defTabSz="230383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958256" indent="-115192" algn="l" defTabSz="230383" rtl="0" eaLnBrk="1" latinLnBrk="0" hangingPunct="1">
        <a:spcBef>
          <a:spcPts val="504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60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0383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1pPr>
      <a:lvl2pPr marL="230383" algn="l" defTabSz="230383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2pPr>
      <a:lvl3pPr marL="460766" algn="l" defTabSz="230383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3pPr>
      <a:lvl4pPr marL="691149" algn="l" defTabSz="230383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4pPr>
      <a:lvl5pPr marL="921532" algn="l" defTabSz="230383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5pPr>
      <a:lvl6pPr marL="1151915" algn="l" defTabSz="230383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6pPr>
      <a:lvl7pPr marL="1382298" algn="l" defTabSz="230383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7pPr>
      <a:lvl8pPr marL="1612682" algn="l" defTabSz="230383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8pPr>
      <a:lvl9pPr marL="1843065" algn="l" defTabSz="230383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ml-boston-housing-kaggle-challenge-with-linear-regression/" TargetMode="External"/><Relationship Id="rId2" Type="http://schemas.openxmlformats.org/officeDocument/2006/relationships/hyperlink" Target="https://medium.com/data-science/linear-regression-on-boston-housing-dataset-f409b7e4a155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1051560"/>
            <a:ext cx="3096768" cy="1981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1890"/>
              </a:spcAft>
            </a:pPr>
            <a:r>
              <a:rPr lang="en-US" sz="1200">
                <a:latin typeface="Arial"/>
              </a:rPr>
              <a:t>Boston Housing Price Prediction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20824" y="1566672"/>
            <a:ext cx="563880" cy="16459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ctr">
              <a:spcBef>
                <a:spcPts val="1890"/>
              </a:spcBef>
              <a:spcAft>
                <a:spcPts val="2310"/>
              </a:spcAft>
            </a:pPr>
            <a:r>
              <a:rPr lang="en-US" sz="950">
                <a:latin typeface="Arial"/>
              </a:rPr>
              <a:t>Yuqi 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1883664" y="2118360"/>
            <a:ext cx="838200" cy="15544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 algn="ctr">
              <a:spcBef>
                <a:spcPts val="2310"/>
              </a:spcBef>
            </a:pPr>
            <a:r>
              <a:rPr lang="en-US" sz="950" dirty="0">
                <a:latin typeface="Arial"/>
              </a:rPr>
              <a:t>June 2025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536" y="121920"/>
            <a:ext cx="566928" cy="16764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1680"/>
              </a:spcAft>
            </a:pPr>
            <a:r>
              <a:rPr lang="en-US" sz="1200">
                <a:latin typeface="Arial"/>
              </a:rP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44424" y="588264"/>
            <a:ext cx="1603248" cy="211531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lnSpc>
                <a:spcPts val="2592"/>
              </a:lnSpc>
              <a:spcBef>
                <a:spcPts val="1680"/>
              </a:spcBef>
            </a:pPr>
            <a:r>
              <a:rPr lang="en-US" sz="950" dirty="0">
                <a:latin typeface="Arial"/>
              </a:rPr>
              <a:t>Introduction Dataset Overview Model Descriptions Actual vs. Predicted Prices Model Shortcomings Recommendations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53568" y="2892552"/>
            <a:ext cx="630936" cy="14020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950">
                <a:latin typeface="Arial"/>
              </a:rPr>
              <a:t>References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632" y="124968"/>
            <a:ext cx="920496" cy="16459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5040"/>
              </a:spcAft>
            </a:pPr>
            <a:r>
              <a:rPr lang="en-US" sz="1200">
                <a:latin typeface="Arial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4152" y="1194816"/>
            <a:ext cx="3800856" cy="96926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lnSpc>
                <a:spcPts val="1656"/>
              </a:lnSpc>
              <a:spcBef>
                <a:spcPts val="5040"/>
              </a:spcBef>
            </a:pPr>
            <a:r>
              <a:rPr lang="en-US" sz="950" dirty="0">
                <a:latin typeface="Arial"/>
              </a:rPr>
              <a:t>►    Boston Housing dataset: 506 entries, 14 features</a:t>
            </a:r>
          </a:p>
          <a:p>
            <a:pPr indent="0" algn="just">
              <a:lnSpc>
                <a:spcPts val="1656"/>
              </a:lnSpc>
            </a:pPr>
            <a:r>
              <a:rPr lang="en-US" sz="950" dirty="0">
                <a:latin typeface="Arial"/>
              </a:rPr>
              <a:t>►    Goal: Predict median house prices (MEDV)</a:t>
            </a:r>
          </a:p>
          <a:p>
            <a:pPr indent="0" algn="just">
              <a:lnSpc>
                <a:spcPts val="1656"/>
              </a:lnSpc>
            </a:pPr>
            <a:r>
              <a:rPr lang="en-US" sz="950" dirty="0">
                <a:latin typeface="Arial"/>
              </a:rPr>
              <a:t>►    Model analyzed: Ridge Regression</a:t>
            </a:r>
          </a:p>
          <a:p>
            <a:pPr marL="195580" indent="-177800">
              <a:lnSpc>
                <a:spcPts val="1344"/>
              </a:lnSpc>
            </a:pPr>
            <a:r>
              <a:rPr lang="en-US" sz="950" dirty="0">
                <a:latin typeface="Arial"/>
              </a:rPr>
              <a:t>►    Objective: Compare actual vs. predicted prices and identify model shortcomings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632" y="121920"/>
            <a:ext cx="1331976" cy="16764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2310"/>
              </a:spcAft>
            </a:pPr>
            <a:r>
              <a:rPr lang="en-US" sz="1200">
                <a:latin typeface="Arial"/>
              </a:rP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4152" y="701040"/>
            <a:ext cx="3459480" cy="76504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just">
              <a:spcBef>
                <a:spcPts val="2310"/>
              </a:spcBef>
              <a:spcAft>
                <a:spcPts val="420"/>
              </a:spcAft>
            </a:pPr>
            <a:r>
              <a:rPr lang="en-US" sz="950" dirty="0">
                <a:latin typeface="Arial"/>
              </a:rPr>
              <a:t>►    Sou </a:t>
            </a:r>
            <a:r>
              <a:rPr lang="en-US" sz="950" dirty="0" err="1">
                <a:latin typeface="Arial"/>
              </a:rPr>
              <a:t>rce</a:t>
            </a:r>
            <a:r>
              <a:rPr lang="en-US" sz="950" dirty="0">
                <a:latin typeface="Arial"/>
              </a:rPr>
              <a:t>: UCI Machine Learning Repository (1970s data)</a:t>
            </a:r>
          </a:p>
          <a:p>
            <a:pPr marL="195580" indent="-177800">
              <a:lnSpc>
                <a:spcPts val="1392"/>
              </a:lnSpc>
            </a:pPr>
            <a:r>
              <a:rPr lang="en-US" sz="950" dirty="0">
                <a:latin typeface="Arial"/>
              </a:rPr>
              <a:t>►    Features: Crime rate (CRIM), rooms per dwelling (RM), lower-status population (LSTAT), etc.</a:t>
            </a:r>
          </a:p>
          <a:p>
            <a:pPr indent="0" algn="just"/>
            <a:r>
              <a:rPr lang="en-US" sz="950" dirty="0">
                <a:latin typeface="Arial"/>
              </a:rPr>
              <a:t>►    Target: MEDV (median house price in $1000s)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39368" y="1615440"/>
          <a:ext cx="2529840" cy="1191768"/>
        </p:xfrm>
        <a:graphic>
          <a:graphicData uri="http://schemas.openxmlformats.org/drawingml/2006/table">
            <a:tbl>
              <a:tblPr/>
              <a:tblGrid>
                <a:gridCol w="7528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936">
                <a:tc>
                  <a:txBody>
                    <a:bodyPr/>
                    <a:lstStyle/>
                    <a:p>
                      <a:pPr marL="101600" indent="0"/>
                      <a:r>
                        <a:rPr lang="en-US" sz="950">
                          <a:latin typeface="Arial"/>
                        </a:rPr>
                        <a:t>Feature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950">
                          <a:latin typeface="Arial"/>
                        </a:rPr>
                        <a:t>Description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26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950">
                          <a:latin typeface="Arial"/>
                        </a:rPr>
                        <a:t>CRIM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950">
                          <a:latin typeface="Arial"/>
                        </a:rPr>
                        <a:t>Per capita crime rate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78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950">
                          <a:latin typeface="Arial"/>
                        </a:rPr>
                        <a:t>RM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950">
                          <a:latin typeface="Arial"/>
                        </a:rPr>
                        <a:t>Average rooms per dwelling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101600" indent="0"/>
                      <a:r>
                        <a:rPr lang="en-US" sz="950">
                          <a:latin typeface="Arial"/>
                        </a:rPr>
                        <a:t>LSTAT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950" i="1" spc="50">
                          <a:latin typeface="Arial"/>
                        </a:rPr>
                        <a:t>%</a:t>
                      </a:r>
                      <a:r>
                        <a:rPr lang="en-US" sz="950">
                          <a:latin typeface="Arial"/>
                        </a:rPr>
                        <a:t> lower status population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101600" indent="0"/>
                      <a:r>
                        <a:rPr lang="en-US" sz="950">
                          <a:latin typeface="Arial"/>
                        </a:rPr>
                        <a:t>PTRATIO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950">
                          <a:latin typeface="Arial"/>
                        </a:rPr>
                        <a:t>Pupil-teacher ratio</a:t>
                      </a: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2504">
                <a:tc>
                  <a:txBody>
                    <a:bodyPr/>
                    <a:lstStyle/>
                    <a:p>
                      <a:pPr marL="101600" indent="0"/>
                      <a:r>
                        <a:rPr lang="en-US" sz="950">
                          <a:latin typeface="Arial"/>
                        </a:rPr>
                        <a:t>MEDV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 indent="0"/>
                      <a:r>
                        <a:rPr lang="en-US" sz="950">
                          <a:latin typeface="Arial"/>
                        </a:rPr>
                        <a:t>Median house price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632" y="124968"/>
            <a:ext cx="1444752" cy="1981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2730"/>
              </a:spcAft>
            </a:pPr>
            <a:r>
              <a:rPr lang="en-US" sz="1200">
                <a:latin typeface="Arial"/>
              </a:rPr>
              <a:t>Model Descriptions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765048"/>
            <a:ext cx="3745992" cy="204520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spcAft>
                <a:spcPts val="420"/>
              </a:spcAft>
            </a:pPr>
            <a:r>
              <a:rPr lang="en-US" sz="950" dirty="0">
                <a:latin typeface="Arial"/>
              </a:rPr>
              <a:t>Approach: Ridge Regression (codestuff.txt)</a:t>
            </a:r>
          </a:p>
          <a:p>
            <a:pPr marL="124460" indent="0" algn="just">
              <a:lnSpc>
                <a:spcPts val="1656"/>
              </a:lnSpc>
            </a:pPr>
            <a:r>
              <a:rPr lang="en-US" sz="950" dirty="0">
                <a:latin typeface="Arial"/>
              </a:rPr>
              <a:t>►    Features: LSTAT, LSTAT*RM, LSTAT</a:t>
            </a:r>
            <a:r>
              <a:rPr lang="en-US" sz="950" baseline="30000" dirty="0">
                <a:latin typeface="Arial"/>
              </a:rPr>
              <a:t>2</a:t>
            </a:r>
            <a:r>
              <a:rPr lang="en-US" sz="950" dirty="0">
                <a:latin typeface="Arial"/>
              </a:rPr>
              <a:t>, PTRATIO, RM</a:t>
            </a:r>
          </a:p>
          <a:p>
            <a:pPr marL="124460" indent="0" algn="just">
              <a:lnSpc>
                <a:spcPts val="1656"/>
              </a:lnSpc>
            </a:pPr>
            <a:r>
              <a:rPr lang="en-US" altLang="zh-CN" sz="950" dirty="0">
                <a:latin typeface="Arial"/>
              </a:rPr>
              <a:t>C_R, C_L, C_P</a:t>
            </a:r>
            <a:endParaRPr lang="en-US" sz="950" dirty="0">
              <a:latin typeface="Arial"/>
            </a:endParaRPr>
          </a:p>
          <a:p>
            <a:pPr marL="124460" indent="0" algn="just">
              <a:lnSpc>
                <a:spcPts val="1656"/>
              </a:lnSpc>
            </a:pPr>
            <a:r>
              <a:rPr lang="en-US" sz="950" dirty="0">
                <a:latin typeface="Arial"/>
              </a:rPr>
              <a:t>►    Model: Ridge Regression (alpha=0.1)</a:t>
            </a:r>
          </a:p>
          <a:p>
            <a:pPr marL="124460" indent="0" algn="just">
              <a:lnSpc>
                <a:spcPts val="1656"/>
              </a:lnSpc>
            </a:pPr>
            <a:r>
              <a:rPr lang="en-US" sz="950" dirty="0">
                <a:latin typeface="Arial"/>
              </a:rPr>
              <a:t>►    Features selected by correlation (&gt; |0.5|)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32" y="1603248"/>
            <a:ext cx="2511552" cy="162153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4488" y="124968"/>
            <a:ext cx="4044696" cy="1374648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>
              <a:spcAft>
                <a:spcPts val="420"/>
              </a:spcAft>
            </a:pPr>
            <a:r>
              <a:rPr lang="en-US" sz="1200" dirty="0">
                <a:latin typeface="Arial"/>
              </a:rPr>
              <a:t>Actual vs. Predicted Prices</a:t>
            </a:r>
          </a:p>
          <a:p>
            <a:pPr marL="546100" indent="-165100">
              <a:lnSpc>
                <a:spcPts val="1392"/>
              </a:lnSpc>
            </a:pPr>
            <a:r>
              <a:rPr lang="en-US" sz="950" dirty="0">
                <a:latin typeface="Arial"/>
              </a:rPr>
              <a:t>►    Actual prices: MEDV from dataset </a:t>
            </a:r>
            <a:r>
              <a:rPr lang="en-US" sz="950" i="1" spc="50" dirty="0">
                <a:latin typeface="Arial"/>
              </a:rPr>
              <a:t>(e.g.,</a:t>
            </a:r>
            <a:r>
              <a:rPr lang="en-US" sz="950" dirty="0">
                <a:latin typeface="Arial"/>
              </a:rPr>
              <a:t> 24.0, 21.6, 34.7 $1000s)</a:t>
            </a:r>
          </a:p>
          <a:p>
            <a:pPr marL="381000" indent="0" algn="just">
              <a:lnSpc>
                <a:spcPts val="1560"/>
              </a:lnSpc>
            </a:pPr>
            <a:r>
              <a:rPr lang="en-US" sz="950" dirty="0">
                <a:latin typeface="Arial"/>
              </a:rPr>
              <a:t>►    Predicted prices: Not explicitly provided in code</a:t>
            </a:r>
          </a:p>
          <a:p>
            <a:pPr marL="381000" indent="0" algn="just">
              <a:lnSpc>
                <a:spcPts val="1560"/>
              </a:lnSpc>
            </a:pPr>
            <a:r>
              <a:rPr lang="en-US" sz="950" baseline="30000" dirty="0">
                <a:latin typeface="Arial"/>
              </a:rPr>
              <a:t>►</a:t>
            </a:r>
            <a:r>
              <a:rPr lang="en-US" sz="950" dirty="0">
                <a:latin typeface="Arial"/>
              </a:rPr>
              <a:t>    Ridge Regression likely performs better due to regularization</a:t>
            </a:r>
          </a:p>
          <a:p>
            <a:pPr marL="1003300" indent="0">
              <a:lnSpc>
                <a:spcPts val="1560"/>
              </a:lnSpc>
            </a:pPr>
            <a:r>
              <a:rPr lang="en-US" sz="900" dirty="0">
                <a:latin typeface="Arial"/>
              </a:rPr>
              <a:t>Hypothetical Scatter Plot</a:t>
            </a:r>
          </a:p>
        </p:txBody>
      </p:sp>
      <p:sp>
        <p:nvSpPr>
          <p:cNvPr id="4" name="Rectangle 3"/>
          <p:cNvSpPr/>
          <p:nvPr/>
        </p:nvSpPr>
        <p:spPr>
          <a:xfrm>
            <a:off x="999744" y="3252216"/>
            <a:ext cx="146304" cy="1219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900">
                <a:latin typeface="Arial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1456944" y="3252216"/>
            <a:ext cx="152400" cy="1219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900">
                <a:latin typeface="Arial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3288" y="3252216"/>
            <a:ext cx="146304" cy="1219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900">
                <a:latin typeface="Arial"/>
              </a:rPr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3252216"/>
            <a:ext cx="155448" cy="1219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900">
                <a:latin typeface="Arial"/>
              </a:rPr>
              <a:t>40</a:t>
            </a:r>
          </a:p>
        </p:txBody>
      </p:sp>
      <p:sp>
        <p:nvSpPr>
          <p:cNvPr id="8" name="Rectangle 7"/>
          <p:cNvSpPr/>
          <p:nvPr/>
        </p:nvSpPr>
        <p:spPr>
          <a:xfrm>
            <a:off x="2840736" y="3252216"/>
            <a:ext cx="155448" cy="1219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/>
            <a:r>
              <a:rPr lang="en-US" sz="900">
                <a:latin typeface="Arial"/>
              </a:rPr>
              <a:t>50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632" y="121920"/>
            <a:ext cx="1539240" cy="201168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2520"/>
              </a:spcAft>
            </a:pPr>
            <a:r>
              <a:rPr lang="en-US" sz="1200">
                <a:latin typeface="Arial"/>
              </a:rPr>
              <a:t>Model Shortcomings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344424" y="725424"/>
            <a:ext cx="3813048" cy="214274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305308" indent="-177800">
              <a:lnSpc>
                <a:spcPts val="1368"/>
              </a:lnSpc>
              <a:spcBef>
                <a:spcPts val="2520"/>
              </a:spcBef>
            </a:pPr>
            <a:r>
              <a:rPr lang="en-US" sz="950" dirty="0">
                <a:latin typeface="Arial"/>
              </a:rPr>
              <a:t>►    Linearity Assumption: Fails to capture non-linear relationships</a:t>
            </a:r>
          </a:p>
          <a:p>
            <a:pPr marL="305308" indent="-177800">
              <a:lnSpc>
                <a:spcPts val="1368"/>
              </a:lnSpc>
            </a:pPr>
            <a:r>
              <a:rPr lang="en-US" sz="950" dirty="0">
                <a:latin typeface="Arial"/>
              </a:rPr>
              <a:t>►    Multicollinearity: Engineered features (e.g., RL, LSTAT) may correlate</a:t>
            </a:r>
          </a:p>
          <a:p>
            <a:pPr marL="305308" indent="-177800">
              <a:lnSpc>
                <a:spcPts val="1368"/>
              </a:lnSpc>
            </a:pPr>
            <a:r>
              <a:rPr lang="en-US" sz="950" dirty="0">
                <a:latin typeface="Arial"/>
              </a:rPr>
              <a:t>►    Data Censoring: MEDV capped at 50, skewing high-value predictions</a:t>
            </a:r>
          </a:p>
          <a:p>
            <a:pPr marL="305308" indent="-177800">
              <a:lnSpc>
                <a:spcPts val="1368"/>
              </a:lnSpc>
              <a:spcAft>
                <a:spcPts val="420"/>
              </a:spcAft>
            </a:pPr>
            <a:r>
              <a:rPr lang="en-US" sz="950" dirty="0">
                <a:latin typeface="Arial"/>
              </a:rPr>
              <a:t>►    Feature Selection: Correlation-based selection may exclude key features (e.g., CHAS)</a:t>
            </a:r>
          </a:p>
          <a:p>
            <a:pPr indent="0" algn="just">
              <a:spcAft>
                <a:spcPts val="420"/>
              </a:spcAft>
            </a:pPr>
            <a:r>
              <a:rPr lang="en-US" sz="950" dirty="0">
                <a:latin typeface="Arial"/>
              </a:rPr>
              <a:t>Example</a:t>
            </a:r>
          </a:p>
          <a:p>
            <a:pPr indent="0" algn="just">
              <a:lnSpc>
                <a:spcPts val="1320"/>
              </a:lnSpc>
            </a:pPr>
            <a:r>
              <a:rPr lang="en-US" sz="950" dirty="0">
                <a:latin typeface="Arial"/>
              </a:rPr>
              <a:t>76 houses have MEDV=50, potentially affecting model accuracy for high-end homes.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3632" y="124968"/>
            <a:ext cx="1365504" cy="164592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4620"/>
              </a:spcAft>
            </a:pPr>
            <a:r>
              <a:rPr lang="en-US" sz="1200">
                <a:latin typeface="Arial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4152" y="1124712"/>
            <a:ext cx="3791712" cy="11430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95580" indent="-177800">
              <a:lnSpc>
                <a:spcPts val="1344"/>
              </a:lnSpc>
              <a:spcBef>
                <a:spcPts val="4620"/>
              </a:spcBef>
            </a:pPr>
            <a:r>
              <a:rPr lang="en-US" sz="950" dirty="0">
                <a:latin typeface="Arial"/>
              </a:rPr>
              <a:t>►    Use non-linear models (e.g., Random Forests, Neural Networks)</a:t>
            </a:r>
          </a:p>
          <a:p>
            <a:pPr indent="0" algn="just">
              <a:spcAft>
                <a:spcPts val="420"/>
              </a:spcAft>
            </a:pPr>
            <a:r>
              <a:rPr lang="en-US" sz="950" dirty="0">
                <a:latin typeface="Arial"/>
              </a:rPr>
              <a:t>►    Apply feature transformations (e.g., logarithmic scaling)</a:t>
            </a:r>
          </a:p>
          <a:p>
            <a:pPr marL="195580" indent="-177800">
              <a:lnSpc>
                <a:spcPts val="1320"/>
              </a:lnSpc>
            </a:pPr>
            <a:r>
              <a:rPr lang="en-US" sz="950" dirty="0">
                <a:latin typeface="Arial"/>
              </a:rPr>
              <a:t>►    Implement advanced feature selection (e.g., Recursive Feature Elimination)</a:t>
            </a:r>
          </a:p>
          <a:p>
            <a:pPr indent="0" algn="just"/>
            <a:r>
              <a:rPr lang="en-US" sz="950" dirty="0">
                <a:latin typeface="Arial"/>
              </a:rPr>
              <a:t>►    Analyze residual plots to diagnose model fit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584" y="121920"/>
            <a:ext cx="810768" cy="16764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4620"/>
              </a:spcAft>
            </a:pPr>
            <a:r>
              <a:rPr lang="en-US" sz="1200">
                <a:latin typeface="Arial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4152" y="1127760"/>
            <a:ext cx="3593592" cy="1139952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92532" indent="-177800">
              <a:lnSpc>
                <a:spcPts val="1344"/>
              </a:lnSpc>
              <a:spcBef>
                <a:spcPts val="4620"/>
              </a:spcBef>
            </a:pPr>
            <a:r>
              <a:rPr lang="en-US" sz="950" dirty="0">
                <a:latin typeface="Arial"/>
              </a:rPr>
              <a:t>►    Ridge Regression provide a baseline for price prediction</a:t>
            </a:r>
          </a:p>
          <a:p>
            <a:pPr indent="0" algn="just">
              <a:spcAft>
                <a:spcPts val="420"/>
              </a:spcAft>
            </a:pPr>
            <a:r>
              <a:rPr lang="en-US" sz="950" dirty="0">
                <a:latin typeface="Arial"/>
              </a:rPr>
              <a:t>►    Shortcomings limit accuracy for complex relationships</a:t>
            </a:r>
          </a:p>
          <a:p>
            <a:pPr indent="0" algn="just">
              <a:spcAft>
                <a:spcPts val="420"/>
              </a:spcAft>
            </a:pPr>
            <a:r>
              <a:rPr lang="en-US" sz="950" dirty="0">
                <a:latin typeface="Arial"/>
              </a:rPr>
              <a:t>►    Advanced techniques can improve model performance</a:t>
            </a:r>
          </a:p>
          <a:p>
            <a:pPr marL="192532" indent="-177800">
              <a:lnSpc>
                <a:spcPts val="1320"/>
              </a:lnSpc>
            </a:pPr>
            <a:r>
              <a:rPr lang="en-US" sz="950" dirty="0">
                <a:latin typeface="Arial"/>
              </a:rPr>
              <a:t>►    Future work: Explore non-linear models and robust feature engineering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324" y="56018"/>
            <a:ext cx="804672" cy="16764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/>
          <a:p>
            <a:pPr indent="0">
              <a:spcAft>
                <a:spcPts val="5040"/>
              </a:spcAft>
            </a:pPr>
            <a:r>
              <a:rPr lang="en-US" sz="1200" dirty="0">
                <a:latin typeface="Arial"/>
              </a:rPr>
              <a:t>References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55F42B-E07D-A48E-7BFD-CBB5A5F26A2C}"/>
              </a:ext>
            </a:extLst>
          </p:cNvPr>
          <p:cNvSpPr txBox="1"/>
          <p:nvPr/>
        </p:nvSpPr>
        <p:spPr>
          <a:xfrm>
            <a:off x="140043" y="329514"/>
            <a:ext cx="40900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Arial"/>
              </a:rPr>
              <a:t>·Agarwal, A. (2018). Linear Regression on Boston Housing Dataset - TDS Archive - Medium. Medium. </a:t>
            </a:r>
            <a:r>
              <a:rPr lang="en-US" altLang="zh-CN" sz="1200" dirty="0">
                <a:latin typeface="Arial"/>
                <a:hlinkClick r:id="rId2"/>
              </a:rPr>
              <a:t>https://medium.com/data-science/linear-regression-on-boston-housing-dataset-f409b7e4a155</a:t>
            </a:r>
            <a:endParaRPr lang="en-US" altLang="zh-CN" sz="1200" dirty="0">
              <a:latin typeface="Arial"/>
            </a:endParaRPr>
          </a:p>
          <a:p>
            <a:r>
              <a:rPr lang="en-US" altLang="zh-CN" sz="1200" dirty="0"/>
              <a:t>·</a:t>
            </a:r>
            <a:r>
              <a:rPr lang="en-US" altLang="zh-CN" sz="1200" dirty="0" err="1"/>
              <a:t>GeeksforGeeks</a:t>
            </a:r>
            <a:r>
              <a:rPr lang="en-US" altLang="zh-CN" sz="1200" dirty="0"/>
              <a:t>. (2025). Linear Regression using Boston Housing Dataset ML. </a:t>
            </a:r>
            <a:r>
              <a:rPr lang="en-US" altLang="zh-CN" sz="1200" dirty="0" err="1"/>
              <a:t>GeeksforGeeks</a:t>
            </a:r>
            <a:r>
              <a:rPr lang="en-US" altLang="zh-CN" sz="1200" dirty="0"/>
              <a:t>. </a:t>
            </a:r>
            <a:r>
              <a:rPr lang="en-US" altLang="zh-CN" sz="1200" dirty="0">
                <a:hlinkClick r:id="rId3"/>
              </a:rPr>
              <a:t>https://www.geeksforgeeks.org/machine-learning/ml-boston-housing-kaggle-challenge-with-linear-regression/</a:t>
            </a:r>
            <a:endParaRPr lang="en-US" altLang="zh-CN" sz="1200" dirty="0"/>
          </a:p>
          <a:p>
            <a:r>
              <a:rPr lang="en-US" altLang="zh-CN" sz="1200" dirty="0"/>
              <a:t>·Yao, E. (2025). Predict Housing Price using Linear Regression in Python. Towards Data Science. https://towardsdatascience.com/predict-housing-price-using-linear-regression-in-python-bfc0fcfff640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</TotalTime>
  <Words>487</Words>
  <Application>Microsoft Office PowerPoint</Application>
  <PresentationFormat>Custom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Boston Housing Price Prediction Analysis</dc:title>
  <dc:subject/>
  <dc:creator>Yuqi Cao</dc:creator>
  <cp:keywords/>
  <cp:lastModifiedBy>Armada Whiteflag</cp:lastModifiedBy>
  <cp:revision>3</cp:revision>
  <dcterms:modified xsi:type="dcterms:W3CDTF">2025-06-29T02:51:30Z</dcterms:modified>
</cp:coreProperties>
</file>